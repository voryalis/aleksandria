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46520"/>
          </a:xfrm>
          <a:prstGeom prst="rect">
            <a:avLst/>
          </a:prstGeom>
          <a:solidFill>
            <a:srgbClr val="0C1B2B"/>
          </a:solidFill>
          <a:ln w="1397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11480" y="347472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590245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0245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53465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3465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3465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32230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32230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5451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5451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5451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74216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74216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37436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37436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37436" y="456285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16202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16202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79422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779422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79422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58187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58187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29600" y="347472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29600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08365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08365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71585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1585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71585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50350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50350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13571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913571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13571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092336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92336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255556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255556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55556" y="456285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434322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34322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597542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597542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97542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776307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776307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939528" y="347472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939528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939528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118293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118293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281513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281513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281513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460278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60278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623499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23499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623499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802264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802264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965484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965484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965484" y="456285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144250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144250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11480" y="6236208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11480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11480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90245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0245" y="6275070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3465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3465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3465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32230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32230" y="6275070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095451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95451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95451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274216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274216" y="6275070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437436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437436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437436" y="6345021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616202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616202" y="6275070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779422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779422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779422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958187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958187" y="6275070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229600" y="6236208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229600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229600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408365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408365" y="6275070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571585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71585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571585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750350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750350" y="6275070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913571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913571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913571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092336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092336" y="6275070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255556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255556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255556" y="6345021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434322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434322" y="6275070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597542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597542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597542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776307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776307" y="6275070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939528" y="6236208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939528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939528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0118293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118293" y="6275070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281513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281513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281513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460278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460278" y="6275070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623499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623499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623499" y="6345021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802264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802264" y="6275070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965484" y="6236208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965484" y="6236208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965484" y="6345021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1144250" y="6275070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1144250" y="6275070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713232" y="914400"/>
            <a:ext cx="109728" cy="4480560"/>
          </a:xfrm>
          <a:prstGeom prst="rect">
            <a:avLst/>
          </a:prstGeom>
          <a:solidFill>
            <a:srgbClr val="F4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49224" y="832104"/>
            <a:ext cx="237744" cy="118872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49224" y="5394960"/>
            <a:ext cx="237744" cy="118872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749808" y="1024128"/>
            <a:ext cx="0" cy="4261104"/>
          </a:xfrm>
          <a:prstGeom prst="line">
            <a:avLst/>
          </a:prstGeom>
          <a:ln w="8890">
            <a:solidFill>
              <a:srgbClr val="E8D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146"/>
          <p:cNvSpPr/>
          <p:nvPr/>
        </p:nvSpPr>
        <p:spPr>
          <a:xfrm>
            <a:off x="1051560" y="914400"/>
            <a:ext cx="109728" cy="4480560"/>
          </a:xfrm>
          <a:prstGeom prst="rect">
            <a:avLst/>
          </a:prstGeom>
          <a:solidFill>
            <a:srgbClr val="F4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87551" y="832104"/>
            <a:ext cx="237744" cy="118872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87551" y="5394960"/>
            <a:ext cx="237744" cy="118872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1088136" y="1024128"/>
            <a:ext cx="0" cy="4261104"/>
          </a:xfrm>
          <a:prstGeom prst="line">
            <a:avLst/>
          </a:prstGeom>
          <a:ln w="8890">
            <a:solidFill>
              <a:srgbClr val="E8D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10844784" y="914400"/>
            <a:ext cx="109728" cy="4480560"/>
          </a:xfrm>
          <a:prstGeom prst="rect">
            <a:avLst/>
          </a:prstGeom>
          <a:solidFill>
            <a:srgbClr val="F4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780776" y="832104"/>
            <a:ext cx="237744" cy="118872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780776" y="5394960"/>
            <a:ext cx="237744" cy="118872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10881359" y="1024128"/>
            <a:ext cx="0" cy="4261104"/>
          </a:xfrm>
          <a:prstGeom prst="line">
            <a:avLst/>
          </a:prstGeom>
          <a:ln w="8890">
            <a:solidFill>
              <a:srgbClr val="E8D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11183112" y="914400"/>
            <a:ext cx="109728" cy="4480560"/>
          </a:xfrm>
          <a:prstGeom prst="rect">
            <a:avLst/>
          </a:prstGeom>
          <a:solidFill>
            <a:srgbClr val="F4E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1119104" y="832104"/>
            <a:ext cx="237744" cy="118872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1119104" y="5394960"/>
            <a:ext cx="237744" cy="118872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11219688" y="1024128"/>
            <a:ext cx="0" cy="4261104"/>
          </a:xfrm>
          <a:prstGeom prst="line">
            <a:avLst/>
          </a:prstGeom>
          <a:ln w="8890">
            <a:solidFill>
              <a:srgbClr val="E8D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1600200" y="1417320"/>
            <a:ext cx="2880360" cy="2880360"/>
          </a:xfrm>
          <a:prstGeom prst="ellipse">
            <a:avLst/>
          </a:prstGeom>
          <a:solidFill>
            <a:srgbClr val="122A3E"/>
          </a:solidFill>
          <a:ln w="1905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847088" y="1664208"/>
            <a:ext cx="2386584" cy="2386584"/>
          </a:xfrm>
          <a:prstGeom prst="ellipse">
            <a:avLst/>
          </a:prstGeom>
          <a:solidFill>
            <a:srgbClr val="0C1B2B"/>
          </a:solidFill>
          <a:ln w="1905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 rot="19500000">
            <a:off x="1828800" y="2011680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 rot="2100000">
            <a:off x="4160520" y="2011680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 rot="19500000">
            <a:off x="1920240" y="2359152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 rot="2100000">
            <a:off x="4069080" y="2359152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 rot="19500000">
            <a:off x="2011680" y="2706624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 rot="2100000">
            <a:off x="3977639" y="2706624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 rot="19500000">
            <a:off x="2103120" y="3054096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 rot="2100000">
            <a:off x="3886200" y="3054096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 rot="19500000">
            <a:off x="2194560" y="3401568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 rot="2100000">
            <a:off x="3794759" y="3401568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 rot="19500000">
            <a:off x="2286000" y="3749039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 rot="2100000">
            <a:off x="3703320" y="3749039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 rot="19500000">
            <a:off x="2377440" y="4096512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 rot="2100000">
            <a:off x="3611879" y="4096512"/>
            <a:ext cx="228600" cy="91440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5" name="Connector 174"/>
          <p:cNvCxnSpPr/>
          <p:nvPr/>
        </p:nvCxnSpPr>
        <p:spPr>
          <a:xfrm flipV="1">
            <a:off x="2066544" y="1929384"/>
            <a:ext cx="548640" cy="22860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2615184" y="1929384"/>
            <a:ext cx="548640" cy="32004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3163824" y="2020824"/>
            <a:ext cx="640079" cy="22860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2066544" y="2157984"/>
            <a:ext cx="228600" cy="68580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H="1">
            <a:off x="2295144" y="1929384"/>
            <a:ext cx="320040" cy="91440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2615184" y="1929384"/>
            <a:ext cx="320040" cy="105156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H="1">
            <a:off x="2935224" y="2249424"/>
            <a:ext cx="228600" cy="73152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3163824" y="2249424"/>
            <a:ext cx="365760" cy="59436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3529584" y="2020824"/>
            <a:ext cx="274319" cy="82296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2295144" y="2843784"/>
            <a:ext cx="640080" cy="13716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2935224" y="2843784"/>
            <a:ext cx="594360" cy="13716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2295144" y="2843784"/>
            <a:ext cx="182880" cy="868679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2478024" y="2980944"/>
            <a:ext cx="457200" cy="731519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2935224" y="2980944"/>
            <a:ext cx="274320" cy="86868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>
            <a:off x="3209544" y="2843784"/>
            <a:ext cx="320040" cy="100584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3529584" y="2843784"/>
            <a:ext cx="274319" cy="73152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2478024" y="3712463"/>
            <a:ext cx="731520" cy="137161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3209544" y="3575304"/>
            <a:ext cx="594359" cy="274320"/>
          </a:xfrm>
          <a:prstGeom prst="line">
            <a:avLst/>
          </a:prstGeom>
          <a:ln w="1270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2011680" y="2103120"/>
            <a:ext cx="109728" cy="10972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560320" y="1874519"/>
            <a:ext cx="109728" cy="109728"/>
          </a:xfrm>
          <a:prstGeom prst="ellipse">
            <a:avLst/>
          </a:prstGeom>
          <a:solidFill>
            <a:srgbClr val="84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108960" y="2194560"/>
            <a:ext cx="109728" cy="109728"/>
          </a:xfrm>
          <a:prstGeom prst="ellipse">
            <a:avLst/>
          </a:prstGeom>
          <a:solidFill>
            <a:srgbClr val="84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749039" y="1965960"/>
            <a:ext cx="109728" cy="10972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2240280" y="2788920"/>
            <a:ext cx="109728" cy="109728"/>
          </a:xfrm>
          <a:prstGeom prst="ellipse">
            <a:avLst/>
          </a:prstGeom>
          <a:solidFill>
            <a:srgbClr val="84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2880360" y="2926080"/>
            <a:ext cx="109728" cy="109728"/>
          </a:xfrm>
          <a:prstGeom prst="ellipse">
            <a:avLst/>
          </a:prstGeom>
          <a:solidFill>
            <a:srgbClr val="84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3474720" y="2788920"/>
            <a:ext cx="109728" cy="10972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2423160" y="3657600"/>
            <a:ext cx="109728" cy="109728"/>
          </a:xfrm>
          <a:prstGeom prst="ellipse">
            <a:avLst/>
          </a:prstGeom>
          <a:solidFill>
            <a:srgbClr val="84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3154680" y="3794760"/>
            <a:ext cx="109728" cy="109728"/>
          </a:xfrm>
          <a:prstGeom prst="ellipse">
            <a:avLst/>
          </a:prstGeom>
          <a:solidFill>
            <a:srgbClr val="84D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3749039" y="3520440"/>
            <a:ext cx="109728" cy="10972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005840" y="470916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84DAF8"/>
                </a:solidFill>
                <a:latin typeface="Aptos"/>
              </a:rPr>
              <a:t>DATA  •  PATTERNS  •  INTELLIGENCE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709160" y="1417320"/>
            <a:ext cx="6126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 i="0">
                <a:solidFill>
                  <a:srgbClr val="F4E9D0"/>
                </a:solidFill>
                <a:latin typeface="Georgia"/>
              </a:rPr>
              <a:t>ALEKSANDRIA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5669280" y="2313432"/>
            <a:ext cx="4206240" cy="0"/>
          </a:xfrm>
          <a:prstGeom prst="line">
            <a:avLst/>
          </a:prstGeom>
          <a:ln w="1905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Oval 205"/>
          <p:cNvSpPr/>
          <p:nvPr/>
        </p:nvSpPr>
        <p:spPr>
          <a:xfrm>
            <a:off x="7680960" y="2221992"/>
            <a:ext cx="164592" cy="164592"/>
          </a:xfrm>
          <a:prstGeom prst="ellipse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709160" y="2514600"/>
            <a:ext cx="612648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FAF7EF"/>
                </a:solidFill>
                <a:latin typeface="Georgia"/>
              </a:rPr>
              <a:t>BIG DATA &amp;
CONNECTIONIST AI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892040" y="4160520"/>
            <a:ext cx="5760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1">
                <a:solidFill>
                  <a:srgbClr val="84DAF8"/>
                </a:solidFill>
                <a:latin typeface="Georgia"/>
              </a:rPr>
              <a:t>From raw data to neural-network learning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983480" y="4709160"/>
            <a:ext cx="5577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4E9D0"/>
                </a:solidFill>
                <a:latin typeface="Aptos"/>
              </a:rPr>
              <a:t>A beginner-friendly introduction using handwritten-digit recognition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074920" y="5577840"/>
            <a:ext cx="5394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B8539"/>
                </a:solidFill>
                <a:latin typeface="Aptos"/>
              </a:rPr>
              <a:t>PROJECT PRESENTATION  •  STAGE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9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168" y="201168"/>
            <a:ext cx="11786616" cy="6446520"/>
          </a:xfrm>
          <a:prstGeom prst="rect">
            <a:avLst/>
          </a:prstGeom>
          <a:solidFill>
            <a:srgbClr val="F4E9D0"/>
          </a:solidFill>
          <a:ln w="1397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38912" y="347472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38912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8912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617677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17677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0897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80897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0897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59662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9662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2883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22883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22883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01648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01648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64868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64868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64868" y="456285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43634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43634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06854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06854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06854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85619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85619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29600" y="347472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29600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29600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08365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08365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571585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1585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71585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50350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50350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13571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913571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913571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092336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92336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255556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255556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255556" y="456285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434322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34322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597542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597542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597542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776307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776307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939528" y="347472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939528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939528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0118293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118293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281513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281513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281513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10460278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460278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623499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23499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623499" y="45628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802264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802264" y="38633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965484" y="34747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965484" y="34747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10965484" y="456285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1144250" y="38633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1144250" y="38633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38912" y="6245352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38912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38912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17677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17677" y="628421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80897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0897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80897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59662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959662" y="628421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122883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122883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22883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301648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301648" y="628421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464868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464868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464868" y="6354165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643634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643634" y="628421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806854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806854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806854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985619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985619" y="628421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229600" y="6245352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229600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229600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408365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408365" y="628421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8571585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71585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8571585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750350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8750350" y="628421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8913571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8913571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913571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092336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9092336" y="628421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255556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9255556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9255556" y="6354165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434322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9434322" y="628421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9597542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9597542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597542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9776307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776307" y="628421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939528" y="6245352"/>
            <a:ext cx="24871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939528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939528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0118293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10118293" y="628421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10281513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0281513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10281513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0460278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10460278" y="628421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10623499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10623499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0623499" y="6354165"/>
            <a:ext cx="178765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10802264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10802264" y="6284214"/>
            <a:ext cx="69952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965484" y="6245352"/>
            <a:ext cx="248717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10965484" y="6245352"/>
            <a:ext cx="0" cy="108813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10965484" y="6354165"/>
            <a:ext cx="178766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11144250" y="6284214"/>
            <a:ext cx="0" cy="69951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11144250" y="6284214"/>
            <a:ext cx="69951" cy="0"/>
          </a:xfrm>
          <a:prstGeom prst="line">
            <a:avLst/>
          </a:prstGeom>
          <a:ln w="1270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tangle 142"/>
          <p:cNvSpPr/>
          <p:nvPr/>
        </p:nvSpPr>
        <p:spPr>
          <a:xfrm>
            <a:off x="475488" y="1051560"/>
            <a:ext cx="82296" cy="4526280"/>
          </a:xfrm>
          <a:prstGeom prst="rect">
            <a:avLst/>
          </a:prstGeom>
          <a:solidFill>
            <a:srgbClr val="16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29768" y="960120"/>
            <a:ext cx="173736" cy="109728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429768" y="5577840"/>
            <a:ext cx="173736" cy="109728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49808" y="1051560"/>
            <a:ext cx="82296" cy="4526280"/>
          </a:xfrm>
          <a:prstGeom prst="rect">
            <a:avLst/>
          </a:prstGeom>
          <a:solidFill>
            <a:srgbClr val="16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704087" y="960120"/>
            <a:ext cx="173736" cy="109728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04087" y="5577840"/>
            <a:ext cx="173736" cy="109728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1119104" y="1051560"/>
            <a:ext cx="82296" cy="4526280"/>
          </a:xfrm>
          <a:prstGeom prst="rect">
            <a:avLst/>
          </a:prstGeom>
          <a:solidFill>
            <a:srgbClr val="16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1073384" y="960120"/>
            <a:ext cx="173736" cy="109728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1073384" y="5577840"/>
            <a:ext cx="173736" cy="109728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393424" y="1051560"/>
            <a:ext cx="82296" cy="4526280"/>
          </a:xfrm>
          <a:prstGeom prst="rect">
            <a:avLst/>
          </a:prstGeom>
          <a:solidFill>
            <a:srgbClr val="163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47704" y="960120"/>
            <a:ext cx="173736" cy="109728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1347704" y="5577840"/>
            <a:ext cx="173736" cy="109728"/>
          </a:xfrm>
          <a:prstGeom prst="rect">
            <a:avLst/>
          </a:prstGeom>
          <a:solidFill>
            <a:srgbClr val="BB85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828800" y="594360"/>
            <a:ext cx="8503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163043"/>
                </a:solidFill>
                <a:latin typeface="Georgia"/>
              </a:rPr>
              <a:t>THE TEAM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828800" y="1143000"/>
            <a:ext cx="8503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52646E"/>
                </a:solidFill>
                <a:latin typeface="Aptos"/>
              </a:rPr>
              <a:t>ALEKSANDRIA  •  BIG DATA &amp; CONNECTIONIST AI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4069080" y="1572768"/>
            <a:ext cx="4069080" cy="0"/>
          </a:xfrm>
          <a:prstGeom prst="line">
            <a:avLst/>
          </a:prstGeom>
          <a:ln w="16510">
            <a:solidFill>
              <a:srgbClr val="BB85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ounded Rectangle 157"/>
          <p:cNvSpPr/>
          <p:nvPr/>
        </p:nvSpPr>
        <p:spPr>
          <a:xfrm>
            <a:off x="1078992" y="1965960"/>
            <a:ext cx="2816352" cy="1572768"/>
          </a:xfrm>
          <a:prstGeom prst="roundRect">
            <a:avLst>
              <a:gd name="adj" fmla="val 10000"/>
            </a:avLst>
          </a:prstGeom>
          <a:solidFill>
            <a:srgbClr val="FAF7EF"/>
          </a:solidFill>
          <a:ln w="1397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243584" y="2139696"/>
            <a:ext cx="475488" cy="475488"/>
          </a:xfrm>
          <a:prstGeom prst="ellipse">
            <a:avLst/>
          </a:prstGeom>
          <a:solidFill>
            <a:srgbClr val="0C1B2B"/>
          </a:solidFill>
          <a:ln w="1905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243584" y="213969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4DAF8"/>
                </a:solidFill>
                <a:latin typeface="Georgia"/>
              </a:rPr>
              <a:t>01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828800" y="2112264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043"/>
                </a:solidFill>
                <a:latin typeface="Georgia"/>
              </a:rPr>
              <a:t>IATSENKO ALEKSANDR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828800" y="2587752"/>
            <a:ext cx="19019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2646E"/>
                </a:solidFill>
                <a:latin typeface="Aptos"/>
              </a:rPr>
              <a:t>Project Coordinator / CEO</a:t>
            </a:r>
          </a:p>
        </p:txBody>
      </p:sp>
      <p:sp>
        <p:nvSpPr>
          <p:cNvPr id="163" name="Oval 162"/>
          <p:cNvSpPr/>
          <p:nvPr/>
        </p:nvSpPr>
        <p:spPr>
          <a:xfrm>
            <a:off x="1371600" y="322783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1435608" y="325983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Oval 164"/>
          <p:cNvSpPr/>
          <p:nvPr/>
        </p:nvSpPr>
        <p:spPr>
          <a:xfrm>
            <a:off x="1627632" y="322783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6" name="Connector 165"/>
          <p:cNvCxnSpPr/>
          <p:nvPr/>
        </p:nvCxnSpPr>
        <p:spPr>
          <a:xfrm>
            <a:off x="1691640" y="325983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1883664" y="322783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4224528" y="1965960"/>
            <a:ext cx="2816352" cy="1572768"/>
          </a:xfrm>
          <a:prstGeom prst="roundRect">
            <a:avLst>
              <a:gd name="adj" fmla="val 10000"/>
            </a:avLst>
          </a:prstGeom>
          <a:solidFill>
            <a:srgbClr val="FAF7EF"/>
          </a:solidFill>
          <a:ln w="1397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389120" y="2139696"/>
            <a:ext cx="475488" cy="475488"/>
          </a:xfrm>
          <a:prstGeom prst="ellipse">
            <a:avLst/>
          </a:prstGeom>
          <a:solidFill>
            <a:srgbClr val="0C1B2B"/>
          </a:solidFill>
          <a:ln w="1905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389120" y="213969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4DAF8"/>
                </a:solidFill>
                <a:latin typeface="Georgia"/>
              </a:rPr>
              <a:t>02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974336" y="2112264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043"/>
                </a:solidFill>
                <a:latin typeface="Georgia"/>
              </a:rPr>
              <a:t>ABDULLAYEV KAMRAN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974336" y="2587752"/>
            <a:ext cx="19019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2646E"/>
                </a:solidFill>
                <a:latin typeface="Aptos"/>
              </a:rPr>
              <a:t>Repository &amp; Technical Workflow / CIO</a:t>
            </a:r>
          </a:p>
        </p:txBody>
      </p:sp>
      <p:sp>
        <p:nvSpPr>
          <p:cNvPr id="173" name="Oval 172"/>
          <p:cNvSpPr/>
          <p:nvPr/>
        </p:nvSpPr>
        <p:spPr>
          <a:xfrm>
            <a:off x="4517136" y="322783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4581144" y="325983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4773168" y="322783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>
            <a:off x="4837176" y="325983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Oval 176"/>
          <p:cNvSpPr/>
          <p:nvPr/>
        </p:nvSpPr>
        <p:spPr>
          <a:xfrm>
            <a:off x="5029200" y="322783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7370064" y="1965960"/>
            <a:ext cx="2816352" cy="1572768"/>
          </a:xfrm>
          <a:prstGeom prst="roundRect">
            <a:avLst>
              <a:gd name="adj" fmla="val 10000"/>
            </a:avLst>
          </a:prstGeom>
          <a:solidFill>
            <a:srgbClr val="FAF7EF"/>
          </a:solidFill>
          <a:ln w="1397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534656" y="2139696"/>
            <a:ext cx="475488" cy="475488"/>
          </a:xfrm>
          <a:prstGeom prst="ellipse">
            <a:avLst/>
          </a:prstGeom>
          <a:solidFill>
            <a:srgbClr val="0C1B2B"/>
          </a:solidFill>
          <a:ln w="1905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534656" y="213969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4DAF8"/>
                </a:solidFill>
                <a:latin typeface="Georgia"/>
              </a:rPr>
              <a:t>03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119872" y="2112264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043"/>
                </a:solidFill>
                <a:latin typeface="Georgia"/>
              </a:rPr>
              <a:t>VIRIN GRIGORII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119872" y="2587752"/>
            <a:ext cx="19019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2646E"/>
                </a:solidFill>
                <a:latin typeface="Aptos"/>
              </a:rPr>
              <a:t>Content Lead</a:t>
            </a:r>
          </a:p>
        </p:txBody>
      </p:sp>
      <p:sp>
        <p:nvSpPr>
          <p:cNvPr id="183" name="Oval 182"/>
          <p:cNvSpPr/>
          <p:nvPr/>
        </p:nvSpPr>
        <p:spPr>
          <a:xfrm>
            <a:off x="7662672" y="322783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7726680" y="325983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Oval 184"/>
          <p:cNvSpPr/>
          <p:nvPr/>
        </p:nvSpPr>
        <p:spPr>
          <a:xfrm>
            <a:off x="7918704" y="322783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>
            <a:off x="7982712" y="325983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val 186"/>
          <p:cNvSpPr/>
          <p:nvPr/>
        </p:nvSpPr>
        <p:spPr>
          <a:xfrm>
            <a:off x="8174736" y="322783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1078992" y="3977639"/>
            <a:ext cx="2816352" cy="1572768"/>
          </a:xfrm>
          <a:prstGeom prst="roundRect">
            <a:avLst>
              <a:gd name="adj" fmla="val 10000"/>
            </a:avLst>
          </a:prstGeom>
          <a:solidFill>
            <a:srgbClr val="FAF7EF"/>
          </a:solidFill>
          <a:ln w="1397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43584" y="4151376"/>
            <a:ext cx="475488" cy="475488"/>
          </a:xfrm>
          <a:prstGeom prst="ellipse">
            <a:avLst/>
          </a:prstGeom>
          <a:solidFill>
            <a:srgbClr val="0C1B2B"/>
          </a:solidFill>
          <a:ln w="1905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243584" y="415137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4DAF8"/>
                </a:solidFill>
                <a:latin typeface="Georgia"/>
              </a:rPr>
              <a:t>04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828800" y="4123944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043"/>
                </a:solidFill>
                <a:latin typeface="Georgia"/>
              </a:rPr>
              <a:t>KAPIZ MIRAD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828800" y="4599431"/>
            <a:ext cx="19019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2646E"/>
                </a:solidFill>
                <a:latin typeface="Aptos"/>
              </a:rPr>
              <a:t>Video Lead</a:t>
            </a:r>
          </a:p>
        </p:txBody>
      </p:sp>
      <p:sp>
        <p:nvSpPr>
          <p:cNvPr id="193" name="Oval 192"/>
          <p:cNvSpPr/>
          <p:nvPr/>
        </p:nvSpPr>
        <p:spPr>
          <a:xfrm>
            <a:off x="1371600" y="523951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>
            <a:off x="1435608" y="527151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1627632" y="523951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6" name="Connector 195"/>
          <p:cNvCxnSpPr/>
          <p:nvPr/>
        </p:nvCxnSpPr>
        <p:spPr>
          <a:xfrm>
            <a:off x="1691640" y="527151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1883664" y="523951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4224528" y="3977639"/>
            <a:ext cx="2816352" cy="1572768"/>
          </a:xfrm>
          <a:prstGeom prst="roundRect">
            <a:avLst>
              <a:gd name="adj" fmla="val 10000"/>
            </a:avLst>
          </a:prstGeom>
          <a:solidFill>
            <a:srgbClr val="FAF7EF"/>
          </a:solidFill>
          <a:ln w="1397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4389120" y="4151376"/>
            <a:ext cx="475488" cy="475488"/>
          </a:xfrm>
          <a:prstGeom prst="ellipse">
            <a:avLst/>
          </a:prstGeom>
          <a:solidFill>
            <a:srgbClr val="0C1B2B"/>
          </a:solidFill>
          <a:ln w="1905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389120" y="415137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4DAF8"/>
                </a:solidFill>
                <a:latin typeface="Georgia"/>
              </a:rPr>
              <a:t>05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974336" y="4123944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043"/>
                </a:solidFill>
                <a:latin typeface="Georgia"/>
              </a:rPr>
              <a:t>KOLDAS TAMERLAN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974336" y="4599431"/>
            <a:ext cx="19019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2646E"/>
                </a:solidFill>
                <a:latin typeface="Aptos"/>
              </a:rPr>
              <a:t>Quality Lead</a:t>
            </a:r>
          </a:p>
        </p:txBody>
      </p:sp>
      <p:sp>
        <p:nvSpPr>
          <p:cNvPr id="203" name="Oval 202"/>
          <p:cNvSpPr/>
          <p:nvPr/>
        </p:nvSpPr>
        <p:spPr>
          <a:xfrm>
            <a:off x="4517136" y="523951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4" name="Connector 203"/>
          <p:cNvCxnSpPr/>
          <p:nvPr/>
        </p:nvCxnSpPr>
        <p:spPr>
          <a:xfrm>
            <a:off x="4581144" y="527151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4773168" y="523951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4837176" y="527151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Oval 206"/>
          <p:cNvSpPr/>
          <p:nvPr/>
        </p:nvSpPr>
        <p:spPr>
          <a:xfrm>
            <a:off x="5029200" y="523951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ounded Rectangle 207"/>
          <p:cNvSpPr/>
          <p:nvPr/>
        </p:nvSpPr>
        <p:spPr>
          <a:xfrm>
            <a:off x="7370064" y="3977639"/>
            <a:ext cx="2816352" cy="1572768"/>
          </a:xfrm>
          <a:prstGeom prst="roundRect">
            <a:avLst>
              <a:gd name="adj" fmla="val 10000"/>
            </a:avLst>
          </a:prstGeom>
          <a:solidFill>
            <a:srgbClr val="FAF7EF"/>
          </a:solidFill>
          <a:ln w="1397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7534656" y="4151376"/>
            <a:ext cx="475488" cy="475488"/>
          </a:xfrm>
          <a:prstGeom prst="ellipse">
            <a:avLst/>
          </a:prstGeom>
          <a:solidFill>
            <a:srgbClr val="0C1B2B"/>
          </a:solidFill>
          <a:ln w="19050">
            <a:solidFill>
              <a:srgbClr val="BB85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534656" y="4151376"/>
            <a:ext cx="47548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84DAF8"/>
                </a:solidFill>
                <a:latin typeface="Georgia"/>
              </a:rPr>
              <a:t>06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119872" y="4123944"/>
            <a:ext cx="1920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63043"/>
                </a:solidFill>
                <a:latin typeface="Georgia"/>
              </a:rPr>
              <a:t>BALANIN ARSENTII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119872" y="4599431"/>
            <a:ext cx="19019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2646E"/>
                </a:solidFill>
                <a:latin typeface="Aptos"/>
              </a:rPr>
              <a:t>Visual Design Lead</a:t>
            </a:r>
          </a:p>
        </p:txBody>
      </p:sp>
      <p:sp>
        <p:nvSpPr>
          <p:cNvPr id="213" name="Oval 212"/>
          <p:cNvSpPr/>
          <p:nvPr/>
        </p:nvSpPr>
        <p:spPr>
          <a:xfrm>
            <a:off x="7662672" y="523951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7726680" y="527151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Oval 214"/>
          <p:cNvSpPr/>
          <p:nvPr/>
        </p:nvSpPr>
        <p:spPr>
          <a:xfrm>
            <a:off x="7918704" y="523951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7982712" y="5271516"/>
            <a:ext cx="192024" cy="0"/>
          </a:xfrm>
          <a:prstGeom prst="line">
            <a:avLst/>
          </a:prstGeom>
          <a:ln w="10160">
            <a:solidFill>
              <a:srgbClr val="27A9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8174736" y="5239512"/>
            <a:ext cx="64008" cy="64008"/>
          </a:xfrm>
          <a:prstGeom prst="ellipse">
            <a:avLst/>
          </a:prstGeom>
          <a:solidFill>
            <a:srgbClr val="27A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743200" y="5897880"/>
            <a:ext cx="6675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BB8539"/>
                </a:solidFill>
                <a:latin typeface="Aptos"/>
              </a:rPr>
              <a:t>CLASSICAL IDEAS  ×  MODERN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